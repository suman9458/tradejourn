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57607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777240"/>
            <a:ext cx="9966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Swami Keshvanand Institute of Technology, Management &amp; Gramothan, Jaipur</a:t>
            </a:r>
          </a:p>
          <a:p>
            <a:pPr algn="ctr">
              <a:defRPr sz="1300">
                <a:solidFill>
                  <a:srgbClr val="00D2FF"/>
                </a:solidFill>
                <a:latin typeface="Segoe UI"/>
              </a:defRPr>
            </a:pPr>
            <a:r>
              <a:t>Department of Computer Science and Engineering</a:t>
            </a:r>
          </a:p>
          <a:p>
            <a:pPr algn="ctr">
              <a:defRPr sz="1200" b="1">
                <a:solidFill>
                  <a:srgbClr val="00F59B"/>
                </a:solidFill>
                <a:latin typeface="Segoe UI"/>
              </a:defRPr>
            </a:pPr>
            <a:r>
              <a:t>Industrial Training Presentation (ITR - 7th Semester)</a:t>
            </a:r>
          </a:p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2148840"/>
            <a:ext cx="2011680" cy="2011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474720" y="2057400"/>
            <a:ext cx="7589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TradeJourn: Trading Command Center</a:t>
            </a:r>
          </a:p>
          <a:p>
            <a:pPr>
              <a:defRPr sz="1400" b="1">
                <a:solidFill>
                  <a:srgbClr val="00D2FF"/>
                </a:solidFill>
                <a:latin typeface="Segoe UI"/>
              </a:defRPr>
            </a:pPr>
            <a:r>
              <a:t>A Scalable MERN Stack Execution Analytics Platform &amp; AI Psychology Coach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Enterprise telemetry for discretionary Forex and CFD traders, featuring server-side MongoDB aggregation pipelines, MetaTrader 5 bridge integration, and dual-layer AI psychological auditing.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4297680"/>
            <a:ext cx="9966960" cy="18288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434840"/>
            <a:ext cx="41148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D2FF"/>
                </a:solidFill>
              </a:defRPr>
            </a:pPr>
            <a:r>
              <a:t>Submitted to: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Assistant Professor / Faculty Guide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Department of Computer Science and Engineering</a:t>
            </a:r>
            <a:br/>
            <a:r>
              <a:t>SKIT, Jaipur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4434840"/>
            <a:ext cx="22860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D2FF"/>
                </a:solidFill>
              </a:defRPr>
            </a:pPr>
            <a:r>
              <a:t>Academic Session: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2026 – 2027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Semester: 7th Sem (4th Year)</a:t>
            </a:r>
            <a:br/>
            <a:r>
              <a:t>Branch: B.Tech CSE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4434840"/>
            <a:ext cx="329184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D2FF"/>
                </a:solidFill>
              </a:defRPr>
            </a:pPr>
            <a:r>
              <a:t>Presented by: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Student Name: [Your Name]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University Roll No.: [Your Roll No.]</a:t>
            </a:r>
            <a:br/>
            <a:r>
              <a:t>College: SKIT Jaipur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Segoe UI"/>
              </a:defRPr>
            </a:pPr>
            <a:r>
              <a:t>■  ORGANIZATION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Codified Web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Enterprise Web Engineering, FinTech Analytics &amp; Scalable Cloud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4114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TradeJourn · Industrial Training Presentation  |  Codified Web Solutions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3474720" cy="43891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F59B"/>
                </a:solidFill>
              </a:defRPr>
            </a:pPr>
            <a:r>
              <a:t>Codified Web Solutions</a:t>
            </a:r>
          </a:p>
          <a:p>
            <a:pPr>
              <a:defRPr sz="1100">
                <a:solidFill>
                  <a:srgbClr val="00D2FF"/>
                </a:solidFill>
              </a:defRPr>
            </a:pPr>
            <a:r>
              <a:t>codifiedwebsolutions.com</a:t>
            </a:r>
            <a:br/>
          </a:p>
          <a:p>
            <a:pPr>
              <a:defRPr sz="1100">
                <a:solidFill>
                  <a:srgbClr val="94A3B8"/>
                </a:solidFill>
              </a:defRPr>
            </a:pPr>
            <a:r>
              <a:t>Codified Web Solutions is an agile technology firm specializing in bespoke enterprise web applications, real-time telemetry dashboards, financial analytics engines, and modern cloud architectures.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The company empowers FinTech organizations, institutional proprietary trading desks, and digital brands by turning high-velocity raw API data into intuitive, actionable executive cockpits.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737360"/>
            <a:ext cx="3413455" cy="14173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847088"/>
            <a:ext cx="3044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2FF"/>
                </a:solidFill>
              </a:defRPr>
            </a:pPr>
            <a:r>
              <a:t>Core Services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Full-Stack Web Development: Real-time telemetry dashboards, scalable MERN architectures, execution analytics engines, and automated data synchronization pipelines.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737360"/>
            <a:ext cx="3413455" cy="14173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847088"/>
            <a:ext cx="3044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F59B"/>
                </a:solidFill>
              </a:defRPr>
            </a:pPr>
            <a:r>
              <a:t>Clients &amp; Domains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Financial trading firms, discretionary forex &amp; CFD prop desks, e-commerce platforms, and data-intensive SaaS enterprises requiring sub-50ms analytics.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3291840"/>
            <a:ext cx="3413455" cy="14173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3401568"/>
            <a:ext cx="3044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</a:defRPr>
            </a:pPr>
            <a:r>
              <a:t>Core Technologies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MERN Stack (MongoDB Atlas, Express.js, React 18, Node.js), Python MetaTrader 5 Bridge, JWT / OAuth2, Tailwind/Vanilla CSS, and Gemini/GPT-4o AI.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3291840"/>
            <a:ext cx="3413455" cy="14173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3401568"/>
            <a:ext cx="3044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855F7"/>
                </a:solidFill>
              </a:defRPr>
            </a:pPr>
            <a:r>
              <a:t>My Role &amp; Responsibilities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Full-Stack Web Development &amp; AI Intern: Architected server-side MongoDB aggregation pipelines, built interactive SVG equity curves, and integrated AI psychology coaching.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4892040"/>
            <a:ext cx="7071055" cy="1234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4983480"/>
            <a:ext cx="6702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2FF"/>
                </a:solidFill>
              </a:defRPr>
            </a:pPr>
            <a:r>
              <a:t>INTERNSHIP METADATA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Location: Malviya Nagar / Jaipur, Rajasthan (Codified Web Solutions HQ)</a:t>
            </a:r>
            <a:br/>
            <a:r>
              <a:t>• Training Period: 18 May – 31 August 2026 (14 Weeks Comprehensive Industrial Training)</a:t>
            </a:r>
            <a:br/>
            <a:r>
              <a:t>• Industry Mentor: Lead Technical Architect, Codified Web Solutions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Segoe UI"/>
              </a:defRPr>
            </a:pPr>
            <a:r>
              <a:t>■  INTERNSHIP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Internship Completion Certificate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Industrial Training Verification &amp; Credentials — Codified Web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4114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TradeJourn · Industrial Training Presentation  |  Codified Web Solutions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737360"/>
            <a:ext cx="9997135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2560320"/>
            <a:ext cx="926561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F59B"/>
                </a:solidFill>
              </a:defRPr>
            </a:pPr>
            <a:r>
              <a:t>[ INTERNSHIP CERTIFICATE PLACEHOLDER ]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Paste or Upload your official Codified Web Solutions Certificate image here.</a:t>
            </a:r>
          </a:p>
          <a:p>
            <a:br/>
            <a:pPr algn="ctr">
              <a:defRPr sz="1200">
                <a:solidFill>
                  <a:srgbClr val="94A3B8"/>
                </a:solidFill>
              </a:defRPr>
            </a:pPr>
            <a:r>
              <a:t>Role: Full-Stack Web Development &amp; AI Intern</a:t>
            </a:r>
            <a:br/>
            <a:r>
              <a:t>Training Period: 18 May 2026 – 31 August 2026</a:t>
            </a:r>
            <a:br/>
            <a:r>
              <a:t>Awarded by: Codified Web Solutions, Jaipur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Segoe UI"/>
              </a:defRPr>
            </a:pPr>
            <a:r>
              <a:t>■  PROBLEM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The Problem: Fragmented Trade Data &amp; Emotional Execution Bias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Traders lose capital not from poor strategy, but from disjointed records, unmonitored psychology, and manual math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4114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TradeJourn · Industrial Training Presentation  |  Codified Web Solutions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2057400" cy="22860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20240"/>
            <a:ext cx="1783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D2FF"/>
                </a:solidFill>
              </a:defRPr>
            </a:pPr>
            <a:r>
              <a:t>01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Scattered Data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Trades executed in MetaTrader 5 or broker terminals require manual export and fragmented spreadsheet logging.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07791" y="1828800"/>
            <a:ext cx="2057400" cy="22860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44951" y="1920240"/>
            <a:ext cx="1783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D2FF"/>
                </a:solidFill>
              </a:defRPr>
            </a:pPr>
            <a:r>
              <a:t>02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Error-Prone Math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Calculating true R-multiple, pip delta, and commission costs by hand leads to inaccurate risk-reward metrics.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84064" y="1828800"/>
            <a:ext cx="2057400" cy="22860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21224" y="1920240"/>
            <a:ext cx="1783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D2FF"/>
                </a:solidFill>
              </a:defRPr>
            </a:pPr>
            <a:r>
              <a:t>03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No Setup Clarity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Traders cannot isolate whether A+ setups actually perform better than impulse C-grade setups.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0336" y="1828800"/>
            <a:ext cx="2057400" cy="22860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97496" y="1920240"/>
            <a:ext cx="1783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D2FF"/>
                </a:solidFill>
              </a:defRPr>
            </a:pPr>
            <a:r>
              <a:t>04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Psychology Blindspot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Devastating mistakes like FOMO, revenge trading, and premature exits go unflagged until accounts are blown.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36608" y="1828800"/>
            <a:ext cx="2057400" cy="22860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73768" y="1920240"/>
            <a:ext cx="1783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D2FF"/>
                </a:solidFill>
              </a:defRPr>
            </a:pPr>
            <a:r>
              <a:t>05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Delayed Feedback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Weekly or monthly reviews take hours of tedious compilation; behavioral feedback loops fail.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343400"/>
            <a:ext cx="2560320" cy="1005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3891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D2FF"/>
                </a:solidFill>
              </a:defRPr>
            </a:pPr>
            <a:r>
              <a:t>Fragmented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Data trapped across MT5 terminals, broker portals, and Excel sheets.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56432" y="4343400"/>
            <a:ext cx="2560320" cy="1005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93592" y="43891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4B72"/>
                </a:solidFill>
              </a:defRPr>
            </a:pPr>
            <a:r>
              <a:t>Error-Prone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Manual cumulative calculations inflate win rates and distort true drawdowns.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343400"/>
            <a:ext cx="2560320" cy="1005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18504" y="43891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Repetitive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Hours wasted manually entering timestamps, pips, and lot sizes for every trade.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6256" y="4343400"/>
            <a:ext cx="2560320" cy="1005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43416" y="43891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855F7"/>
                </a:solidFill>
              </a:defRPr>
            </a:pPr>
            <a:r>
              <a:t>Unmonitored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Trading psychology and emotional leakage remain completely unquantified.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532120"/>
            <a:ext cx="10728655" cy="68580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00F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596128"/>
            <a:ext cx="103601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59B"/>
                </a:solidFill>
              </a:defRPr>
            </a:pPr>
            <a:r>
              <a:t>CORE REQUIREMENT: A unified, institutional-grade Trading Command Center that automatically ingests trades, executes server-side aggregation pipelines, and delivers real-time AI psychology auditing.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Segoe UI"/>
              </a:defRPr>
            </a:pPr>
            <a:r>
              <a:t>■  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TradeJourn: Scalable Trading Command Center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From raw execution feeds to an institutional-grade, self-serve trading journal with AI psychology auditing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4114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TradeJourn · Industrial Training Presentation  |  Codified Web Solutions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3840480" cy="44805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74519"/>
            <a:ext cx="3474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F59B"/>
                </a:solidFill>
              </a:defRPr>
            </a:pPr>
            <a:r>
              <a:t>Institutional Trading Telemetry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TradeJourn transforms discretionary retail and proprietary trading by providing institutional-grade risk metrics, interactive equity trajectories, and real-time behavioral diagnostics.</a:t>
            </a:r>
          </a:p>
          <a:p>
            <a:br/>
            <a:pPr>
              <a:defRPr sz="1200" b="1">
                <a:solidFill>
                  <a:srgbClr val="00D2FF"/>
                </a:solidFill>
              </a:defRPr>
            </a:pPr>
            <a:r>
              <a:t>Key Architecture Highlights: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MERN Stack Architecture (MongoDB, Express, React 18, Node.js)</a:t>
            </a:r>
            <a:br/>
            <a:r>
              <a:t>• Server-Side MongoDB Aggregations for sub-50ms KPI metrics</a:t>
            </a:r>
            <a:br/>
            <a:r>
              <a:t>• MetaTrader 5 Bridge Connector for automated execution sync</a:t>
            </a:r>
            <a:br/>
            <a:r>
              <a:t>• Dual AI Coach: Grounded deterministic audit + Gemini / GPT-4o</a:t>
            </a:r>
            <a:br/>
            <a:r>
              <a:t>• Interactive SVG Cumulative R &amp; Pips Equity Curves</a:t>
            </a:r>
            <a:br/>
            <a:r>
              <a:t>• Zero-Config Hybrid Database Connection (Atlas + In-Memory)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1737360"/>
            <a:ext cx="6705295" cy="36576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ashboard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783080"/>
            <a:ext cx="6613855" cy="35661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754880" y="5532120"/>
            <a:ext cx="1600200" cy="685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5559552"/>
            <a:ext cx="160020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F59B"/>
                </a:solidFill>
              </a:defRPr>
            </a:pPr>
            <a:r>
              <a:t>17+</a:t>
            </a:r>
          </a:p>
          <a:p>
            <a:pPr algn="ctr">
              <a:defRPr sz="850">
                <a:solidFill>
                  <a:srgbClr val="94A3B8"/>
                </a:solidFill>
              </a:defRPr>
            </a:pPr>
            <a:r>
              <a:t>Audited Trades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73952" y="5532120"/>
            <a:ext cx="1600200" cy="685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5559552"/>
            <a:ext cx="160020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</a:defRPr>
            </a:pPr>
            <a:r>
              <a:t>70.6%</a:t>
            </a:r>
          </a:p>
          <a:p>
            <a:pPr algn="ctr">
              <a:defRPr sz="850">
                <a:solidFill>
                  <a:srgbClr val="94A3B8"/>
                </a:solidFill>
              </a:defRPr>
            </a:pPr>
            <a:r>
              <a:t>Live Win Rate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3024" y="5532120"/>
            <a:ext cx="1600200" cy="685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93024" y="5559552"/>
            <a:ext cx="160020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F59B"/>
                </a:solidFill>
              </a:defRPr>
            </a:pPr>
            <a:r>
              <a:t>+$534</a:t>
            </a:r>
          </a:p>
          <a:p>
            <a:pPr algn="ctr">
              <a:defRPr sz="850">
                <a:solidFill>
                  <a:srgbClr val="94A3B8"/>
                </a:solidFill>
              </a:defRPr>
            </a:pPr>
            <a:r>
              <a:t>Net Profit Audited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12096" y="5532120"/>
            <a:ext cx="1600200" cy="685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12096" y="5559552"/>
            <a:ext cx="160020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&lt; 45ms</a:t>
            </a:r>
          </a:p>
          <a:p>
            <a:pPr algn="ctr">
              <a:defRPr sz="850">
                <a:solidFill>
                  <a:srgbClr val="94A3B8"/>
                </a:solidFill>
              </a:defRPr>
            </a:pPr>
            <a:r>
              <a:t>Aggregation Latency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Segoe UI"/>
              </a:defRPr>
            </a:pPr>
            <a:r>
              <a:t>■  GOALS &amp;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Project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What TradeJourn had to deliver, each objective directly traceable to implemented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4114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TradeJourn · Industrial Training Presentation  |  Codified Web Solutions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2560320" cy="16916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92808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2FF"/>
                </a:solidFill>
              </a:defRPr>
            </a:pPr>
            <a:r>
              <a:t>01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Centralize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Ingest trades from MetaTrader 5, broker CSVs, and web entry into a unified, secure database.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1783080"/>
            <a:ext cx="2560320" cy="16916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93592" y="1892808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F59B"/>
                </a:solidFill>
              </a:defRPr>
            </a:pPr>
            <a:r>
              <a:t>02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Normalize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Standardize trade results into true R-multiples, net pips, commissions, and session tags.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1783080"/>
            <a:ext cx="2560320" cy="16916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18504" y="1892808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B82F6"/>
                </a:solidFill>
              </a:defRPr>
            </a:pPr>
            <a:r>
              <a:t>03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Calculate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Execute server-side MongoDB aggregation pipelines for win-rate, profit factor, and expectancy.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06256" y="1783080"/>
            <a:ext cx="2560320" cy="16916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43416" y="1892808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855F7"/>
                </a:solidFill>
              </a:defRPr>
            </a:pPr>
            <a:r>
              <a:t>04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Audit Psychology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Calculate real-time discipline scores (0–100) and automatically flag behavioral errors.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611880"/>
            <a:ext cx="2560320" cy="16916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721608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F59B"/>
                </a:solidFill>
              </a:defRPr>
            </a:pPr>
            <a:r>
              <a:t>05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Visualize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Render interactive SVG smooth-spline equity curves, drawdown trajectories, and donut gauges.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56432" y="3611880"/>
            <a:ext cx="2560320" cy="16916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93592" y="3721608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2FF"/>
                </a:solidFill>
              </a:defRPr>
            </a:pPr>
            <a:r>
              <a:t>06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Enrich with AI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Deploy a Dual AI Coach combining grounded deterministic audit with conversational LLM mentoring.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81344" y="3611880"/>
            <a:ext cx="2560320" cy="16916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18504" y="3721608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07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Secure &amp; Isolate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Enforce stateless JWT authentication, bcrypt hashing, and strict multi-tenant isolation.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06256" y="3611880"/>
            <a:ext cx="2560320" cy="16916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43416" y="3721608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4B72"/>
                </a:solidFill>
              </a:defRPr>
            </a:pPr>
            <a:r>
              <a:t>08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Stay Resilient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Zero-config hybrid database manager connects to MongoDB Atlas or fails over to memory.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623560"/>
            <a:ext cx="10728655" cy="59436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669280"/>
            <a:ext cx="1036015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D2FF"/>
                </a:solidFill>
              </a:defRPr>
            </a:pPr>
            <a:r>
              <a:t>EXPECTED OUTCOME: A trader opens one browser tab and instantly observes verified statistical edge, psychology diagnostics, and equity trajectories with zero manual calculation.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Segoe UI"/>
              </a:defRPr>
            </a:pPr>
            <a:r>
              <a:t>■  SOLUTION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End-to-End Execution &amp; Analytics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From a completed order in MetaTrader 5 to an audited statistical dashboard in five synchronized stages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4114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TradeJourn · Industrial Training Presentation  |  Codified Web Solutions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2057400" cy="34747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2057400" cy="54864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A0F19"/>
                </a:solidFill>
              </a:defRPr>
            </a:pPr>
            <a:r>
              <a:t>01 COLLECT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468880"/>
            <a:ext cx="1837943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 b="1">
                <a:solidFill>
                  <a:srgbClr val="FFFFFF"/>
                </a:solidFill>
              </a:defRPr>
            </a:pPr>
            <a:r>
              <a:t>Trade Inputs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Quick-Add Modal</a:t>
            </a:r>
          </a:p>
          <a:p/>
          <a:p>
            <a:pPr>
              <a:defRPr sz="1100" b="1">
                <a:solidFill>
                  <a:srgbClr val="FFFFFF"/>
                </a:solidFill>
              </a:defRPr>
            </a:pPr>
            <a:r>
              <a:t>MT5 Bridge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Python live connector</a:t>
            </a:r>
          </a:p>
          <a:p/>
          <a:p>
            <a:pPr>
              <a:defRPr sz="1100" b="1">
                <a:solidFill>
                  <a:srgbClr val="FFFFFF"/>
                </a:solidFill>
              </a:defRPr>
            </a:pPr>
            <a:r>
              <a:t>CSV Import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Broker statements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07791" y="1828800"/>
            <a:ext cx="2057400" cy="34747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07791" y="1828800"/>
            <a:ext cx="2057400" cy="548640"/>
          </a:xfrm>
          <a:prstGeom prst="rect">
            <a:avLst/>
          </a:prstGeom>
          <a:solidFill>
            <a:srgbClr val="00F5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A0F19"/>
                </a:solidFill>
              </a:defRPr>
            </a:pPr>
            <a:r>
              <a:t>02 PROCESS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19" y="2468880"/>
            <a:ext cx="1837943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 b="1">
                <a:solidFill>
                  <a:srgbClr val="FFFFFF"/>
                </a:solidFill>
              </a:defRPr>
            </a:pPr>
            <a:r>
              <a:t>Sanitization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Express middleware</a:t>
            </a:r>
          </a:p>
          <a:p/>
          <a:p>
            <a:pPr>
              <a:defRPr sz="1100" b="1">
                <a:solidFill>
                  <a:srgbClr val="FFFFFF"/>
                </a:solidFill>
              </a:defRPr>
            </a:pPr>
            <a:r>
              <a:t>Math Normalization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R-Multiple &amp; pips</a:t>
            </a:r>
          </a:p>
          <a:p/>
          <a:p>
            <a:pPr>
              <a:defRPr sz="1100" b="1">
                <a:solidFill>
                  <a:srgbClr val="FFFFFF"/>
                </a:solidFill>
              </a:defRPr>
            </a:pPr>
            <a:r>
              <a:t>Session Tagging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London / NY / Asian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84064" y="1828800"/>
            <a:ext cx="2057400" cy="34747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84064" y="1828800"/>
            <a:ext cx="2057400" cy="5486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A0F19"/>
                </a:solidFill>
              </a:defRPr>
            </a:pPr>
            <a:r>
              <a:t>03 STORE &amp; PROTECT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93792" y="2468880"/>
            <a:ext cx="1837943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 b="1">
                <a:solidFill>
                  <a:srgbClr val="FFFFFF"/>
                </a:solidFill>
              </a:defRPr>
            </a:pPr>
            <a:r>
              <a:t>MongoDB Atlas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Indexed collections</a:t>
            </a:r>
          </a:p>
          <a:p/>
          <a:p>
            <a:pPr>
              <a:defRPr sz="1100" b="1">
                <a:solidFill>
                  <a:srgbClr val="FFFFFF"/>
                </a:solidFill>
              </a:defRPr>
            </a:pPr>
            <a:r>
              <a:t>JWT Auth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Role &amp; tenant isolation</a:t>
            </a:r>
          </a:p>
          <a:p/>
          <a:p>
            <a:pPr>
              <a:defRPr sz="1100" b="1">
                <a:solidFill>
                  <a:srgbClr val="FFFFFF"/>
                </a:solidFill>
              </a:defRPr>
            </a:pPr>
            <a:r>
              <a:t>Hybrid Failover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In-memory database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60336" y="1828800"/>
            <a:ext cx="2057400" cy="34747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60336" y="1828800"/>
            <a:ext cx="2057400" cy="5486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A0F19"/>
                </a:solidFill>
              </a:defRPr>
            </a:pPr>
            <a:r>
              <a:t>04 ANALYZE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70064" y="2468880"/>
            <a:ext cx="1837943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 b="1">
                <a:solidFill>
                  <a:srgbClr val="FFFFFF"/>
                </a:solidFill>
              </a:defRPr>
            </a:pPr>
            <a:r>
              <a:t>Aggregation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$facet pipelines</a:t>
            </a:r>
          </a:p>
          <a:p/>
          <a:p>
            <a:pPr>
              <a:defRPr sz="1100" b="1">
                <a:solidFill>
                  <a:srgbClr val="FFFFFF"/>
                </a:solidFill>
              </a:defRPr>
            </a:pPr>
            <a:r>
              <a:t>Metrics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Win rate &amp; profit factor</a:t>
            </a:r>
          </a:p>
          <a:p/>
          <a:p>
            <a:pPr>
              <a:defRPr sz="1100" b="1">
                <a:solidFill>
                  <a:srgbClr val="FFFFFF"/>
                </a:solidFill>
              </a:defRPr>
            </a:pPr>
            <a:r>
              <a:t>Discipline Score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Behavioral penalties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36608" y="1828800"/>
            <a:ext cx="2057400" cy="34747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436608" y="1828800"/>
            <a:ext cx="2057400" cy="548640"/>
          </a:xfrm>
          <a:prstGeom prst="rect">
            <a:avLst/>
          </a:prstGeom>
          <a:solidFill>
            <a:srgbClr val="00F5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A0F19"/>
                </a:solidFill>
              </a:defRPr>
            </a:pPr>
            <a:r>
              <a:t>05 SERVE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46336" y="2468880"/>
            <a:ext cx="1837943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 b="1">
                <a:solidFill>
                  <a:srgbClr val="FFFFFF"/>
                </a:solidFill>
              </a:defRPr>
            </a:pPr>
            <a:r>
              <a:t>React 18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Modern UI components</a:t>
            </a:r>
          </a:p>
          <a:p/>
          <a:p>
            <a:pPr>
              <a:defRPr sz="1100" b="1">
                <a:solidFill>
                  <a:srgbClr val="FFFFFF"/>
                </a:solidFill>
              </a:defRPr>
            </a:pPr>
            <a:r>
              <a:t>SVG Curves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Smooth equity charts</a:t>
            </a:r>
          </a:p>
          <a:p/>
          <a:p>
            <a:pPr>
              <a:defRPr sz="1100" b="1">
                <a:solidFill>
                  <a:srgbClr val="FFFFFF"/>
                </a:solidFill>
              </a:defRPr>
            </a:pPr>
            <a:r>
              <a:t>AI Coach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Psychology diagnosis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532120"/>
            <a:ext cx="10728655" cy="685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623560"/>
            <a:ext cx="1036015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</a:defRPr>
            </a:pPr>
            <a:r>
              <a:t>CLIENT BROWSER  ➔  EXPRESS REST API (/api/*)  ➔  MONGODB AGGREGATION PIPELINES  ➔  AI PSYCHOLOGY AUDIT  ➔  REACT 18 HUD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Segoe UI"/>
              </a:defRPr>
            </a:pPr>
            <a:r>
              <a:t>■ 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System Architecture and 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A decoupled, high-performance multi-tier architecture engineered for data integrity and speed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4114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TradeJourn · Industrial Training Presentation  |  Codified Web Solutions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2377440" cy="658368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0D2FF"/>
                </a:solidFill>
              </a:defRPr>
            </a:pPr>
            <a:r>
              <a:t>DATA SOURCES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737360"/>
            <a:ext cx="8168335" cy="658368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847088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MetaTrader 5 Bridge Connector   •   Broker CSV Trade Statements   •   Discretionary Web UI Entry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487168"/>
            <a:ext cx="2377440" cy="658368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00F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0F59B"/>
                </a:solidFill>
              </a:defRPr>
            </a:pPr>
            <a:r>
              <a:t>INGESTION LAYER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2487168"/>
            <a:ext cx="8168335" cy="658368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2596896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Express REST API (/api/trades)   •   HMAC SHA256 Signature Verify   •   Sanitization &amp; Rate Limiting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236976"/>
            <a:ext cx="2377440" cy="658368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3B82F6"/>
                </a:solidFill>
              </a:defRPr>
            </a:pPr>
            <a:r>
              <a:t>STORAGE TIER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91840" y="3236976"/>
            <a:ext cx="8168335" cy="658368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3346704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MongoDB Atlas Cloud Database   •   Embedded In-Memory Fallback   •   Compound B-Tree Indexes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986783"/>
            <a:ext cx="2377440" cy="658368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A855F7"/>
                </a:solidFill>
              </a:defRPr>
            </a:pPr>
            <a:r>
              <a:t>BUSINESS LOGIC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91840" y="3986783"/>
            <a:ext cx="8168335" cy="658368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0" y="4096511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MongoDB $facet Aggregations   •   JWT Auth &amp; Tenant Isolation   •   Grounded AI Psychology Engine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736592"/>
            <a:ext cx="2377440" cy="658368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00F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0F59B"/>
                </a:solidFill>
              </a:defRPr>
            </a:pPr>
            <a:r>
              <a:t>PRESENTATION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91840" y="4736592"/>
            <a:ext cx="8168335" cy="658368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48463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React 18 (Vite Bundler)   •   Vanilla CSS Dark Design System   •   Interactive SVG Smooth Curves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486400"/>
            <a:ext cx="2377440" cy="658368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59E0B"/>
                </a:solidFill>
              </a:defRPr>
            </a:pPr>
            <a:r>
              <a:t>END USERS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91840" y="5486400"/>
            <a:ext cx="8168335" cy="658368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0" y="5596128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Discretionary Forex/CFD Traders   •   Proprietary Firm Desk Candidates   •   Risk Management Officers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Segoe UI"/>
              </a:defRPr>
            </a:pPr>
            <a:r>
              <a:t>■  DATA INGESTION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One Dashboard Load, Step by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Five coordinated server-side operations run asynchronously on every load to ensure sub-50ms response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4114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TradeJourn · Industrial Training Presentation  |  Codified Web Solutions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2057400" cy="22860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20240"/>
            <a:ext cx="1783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F59B"/>
                </a:solidFill>
              </a:defRPr>
            </a:pPr>
            <a:r>
              <a:t>01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Pick Range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User selects time window (1D, 7D, 30D, 90D, ALL) or filters by session/asset.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07791" y="1828800"/>
            <a:ext cx="2057400" cy="22860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44951" y="1920240"/>
            <a:ext cx="1783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F59B"/>
                </a:solidFill>
              </a:defRPr>
            </a:pPr>
            <a:r>
              <a:t>02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Parallel Fan-Out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Frontend dispatches Promise.all across /api/analytics/kpis, /curve, /breakdowns, and /trades.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84064" y="1828800"/>
            <a:ext cx="2057400" cy="22860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21224" y="1920240"/>
            <a:ext cx="1783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F59B"/>
                </a:solidFill>
              </a:defRPr>
            </a:pPr>
            <a:r>
              <a:t>03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Verify JWT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Express auth middleware verifies stateless JWT token and binds req.user.id in &lt;2ms.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0336" y="1828800"/>
            <a:ext cx="2057400" cy="22860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97496" y="1920240"/>
            <a:ext cx="1783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F59B"/>
                </a:solidFill>
              </a:defRPr>
            </a:pPr>
            <a:r>
              <a:t>04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Indexed Query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MongoDB executes pre-indexed compound aggregation pipelines ({ userId: 1, date: -1 }).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36608" y="1828800"/>
            <a:ext cx="2057400" cy="22860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73768" y="1920240"/>
            <a:ext cx="1783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F59B"/>
                </a:solidFill>
              </a:defRPr>
            </a:pPr>
            <a:r>
              <a:t>05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Hydrate &amp; Render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JSON telemetry hydrates React state, drawing smooth SVG equity curves without flicker.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343400"/>
            <a:ext cx="10728655" cy="18288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434840"/>
            <a:ext cx="10149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</a:defRPr>
            </a:pPr>
            <a:r>
              <a:t>HIGH-PERFORMANCE INGESTION &amp; RELIABILITY GUARANTEES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Sub-50ms Aggregation Latency: Server-side MongoDB $facet operators compute win rate, PnL, and expectancy in one round-trip.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Multi-Tenant Isolation: Every query enforces { userId: req.user.id }, preventing cross-tenant data leaks.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Non-Blocking Parallelism: Node.js asynchronous event loop handles concurrent trade logging without thread blocking.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Zero-Config Hybrid Connection: Automatically connects to MongoDB Atlas or falls back to an embedded in-memory database for local testing.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Segoe UI"/>
              </a:defRPr>
            </a:pPr>
            <a:r>
              <a:t>■  CALCULATIONS &amp; MATHEMATICS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How the Trading Metrics Are Worked 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Exact mathematical rules implemented inside MongoDB aggregation pipelines and client utils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4114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TradeJourn · Industrial Training Presentation  |  Codified Web Solutions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456432" cy="16459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309067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F59B"/>
                </a:solidFill>
              </a:defRPr>
            </a:pPr>
            <a:r>
              <a:t>R-MULTIPLE (R)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(Exit - Entry) / (Entry - StopLoss)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Standardizes profit/loss across varying position sizes and asset volatility into normalized risk units.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828800"/>
            <a:ext cx="3456432" cy="16459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920240"/>
            <a:ext cx="309067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D2FF"/>
                </a:solidFill>
              </a:defRPr>
            </a:pPr>
            <a:r>
              <a:t>PROFIT FACTOR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Σ Gross Profits / Σ Gross Losses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Quantifies system edge. Values &gt; 1.5 indicate high expectancy; &lt; 1.0 indicates unprofitable trading.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0144" y="1828800"/>
            <a:ext cx="3456432" cy="16459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93024" y="1920240"/>
            <a:ext cx="309067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855F7"/>
                </a:solidFill>
              </a:defRPr>
            </a:pPr>
            <a:r>
              <a:t>DISCIPLINE SCORE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100 - Σ Mistake Penalties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Starts at 100 and penalizes FOMO (-15), Revenge (-20), Early Exit (-10), and Stop-Loss Violation (-25).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657600"/>
            <a:ext cx="10728655" cy="25603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749039"/>
            <a:ext cx="1036015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</a:defRPr>
            </a:pPr>
            <a:r>
              <a:t>METRIC IMPLEMENTATION MATRIX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Win Rate (%): Count(result == 'WIN') / Total Closed Trades * 100  ➔  [MongoDB $cond aggregation in analyticsController.js]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Total Pips: Σ (Exit Price - Entry Price) * Instrument Pip Multiplier  ➔  [Standardizes 0.0001 for Forex vs 0.01 for JPY &amp; Metals]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Mathematical Expectancy: (Win Rate * Avg Win R) - (Loss Rate * Avg Loss R)  ➔  [Measures net expected R-value return per executed trade]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Max Drawdown (USD): Max(Running Peak Balance - Current Cumulative PnL)  ➔  [Computed on continuous trajectory curve to monitor capital risk]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Mistake Cost ($): Σ Losses where mistake != 'None' (e.g. FOMO, Revenge)  ➔  [Explicitly isolates psychological leakage from technical errors]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Segoe UI"/>
              </a:defRPr>
            </a:pPr>
            <a:r>
              <a:t>■  DATA 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MongoDB Database Design &amp; Compound Indexing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A multi-tenant document schema optimized for compound B-tree indexing and zero-config local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4114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TradeJourn · Industrial Training Presentation  |  Codified Web Solutions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5212080" cy="34747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4846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F59B"/>
                </a:solidFill>
              </a:defRPr>
            </a:pPr>
            <a:r>
              <a:t>Collection: trades (Core Telemetry)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_id: ObjectId (Primary Key)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userId: ObjectId (Foreign key -&gt; users._id, Indexed)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date, time: Date / String (Temporal execution stamp)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instrument: String (e.g. EURUSD, XAUUSD, US30)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side: 'BUY' | 'SELL' (Market execution direction)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entryPrice, exitPrice, stopLoss, takeProfit: Number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lots, pips, rMultiple, profit: Number (Calculated)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session: 'London' | 'New York' | 'Asian' | 'Overlap'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setupRating: 'A+' | 'A' | 'B+' | 'B' | 'C' | 'D'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emotion: 'Neutral' | 'Greed' | 'Fear' | 'Revenge'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mistake: 'None' | 'Early Entry' | 'FOMO' | 'Early Exit'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5242255" cy="34747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4846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2FF"/>
                </a:solidFill>
              </a:defRPr>
            </a:pPr>
            <a:r>
              <a:t>Collections: users, playbooks, goals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users: name, email, userId (@handle), password (bcrypt)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users: tradingExperience ('Beginner' | 'Expert'), role ('pro')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users.settings: currency, riskPerTrade, aiProvider, aiModel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playbooks: userId, setupName, rulesChecklist [], targetRR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playbooks: forbiddenMistakes [], timeframes []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goals: userId, targetProfit, targetWinRate, minDiscipline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mt5_accounts: userId, login, server, balance, equity, status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49240"/>
            <a:ext cx="10728655" cy="9144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394960"/>
            <a:ext cx="1036015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F59B"/>
                </a:solidFill>
              </a:defRPr>
            </a:pPr>
            <a:r>
              <a:t>COMPOUND INDEXING &amp; ZERO-CONFIG HYBRID CONNECTION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Compound Indexes: { userId: 1, date: -1 }, { userId: 1, result: 1 }, { userId: 1, setupRating: 1 }, { userId: 1, session: 1 }</a:t>
            </a:r>
            <a:br/>
            <a:r>
              <a:t>• Hybrid Connection Strategy: Attempts MongoDB Atlas cloud connection; if unreachable, silently spawns embedded in-memory MongoDB.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Segoe UI"/>
              </a:defRPr>
            </a:pPr>
            <a:r>
              <a:t>■  BACKEND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Express.js REST API: Layers and Endpoints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Route handlers stay thin and declarative; controllers hold aggregation logic and multi-tenant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4114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TradeJourn · Industrial Training Presentation  |  Codified Web Solutions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1691640" cy="822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1691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00D2FF"/>
                </a:solidFill>
              </a:defRPr>
            </a:pPr>
            <a:r>
              <a:t>Edge Security</a:t>
            </a:r>
          </a:p>
          <a:p>
            <a:pPr algn="ctr">
              <a:defRPr sz="850">
                <a:solidFill>
                  <a:srgbClr val="94A3B8"/>
                </a:solidFill>
              </a:defRPr>
            </a:pPr>
            <a:r>
              <a:t>helmet, cors, compression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42032" y="1737360"/>
            <a:ext cx="1691640" cy="822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42032" y="1783080"/>
            <a:ext cx="1691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00D2FF"/>
                </a:solidFill>
              </a:defRPr>
            </a:pPr>
            <a:r>
              <a:t>Rate Limiting</a:t>
            </a:r>
          </a:p>
          <a:p>
            <a:pPr algn="ctr">
              <a:defRPr sz="850">
                <a:solidFill>
                  <a:srgbClr val="94A3B8"/>
                </a:solidFill>
              </a:defRPr>
            </a:pPr>
            <a:r>
              <a:t>100 req / 15m window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2544" y="1737360"/>
            <a:ext cx="1691640" cy="822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52544" y="1783080"/>
            <a:ext cx="1691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00D2FF"/>
                </a:solidFill>
              </a:defRPr>
            </a:pPr>
            <a:r>
              <a:t>JWT Auth Guard</a:t>
            </a:r>
          </a:p>
          <a:p>
            <a:pPr algn="ctr">
              <a:defRPr sz="850">
                <a:solidFill>
                  <a:srgbClr val="94A3B8"/>
                </a:solidFill>
              </a:defRPr>
            </a:pPr>
            <a:r>
              <a:t>middleware/auth.js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737360"/>
            <a:ext cx="1691640" cy="822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63055" y="1783080"/>
            <a:ext cx="1691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00D2FF"/>
                </a:solidFill>
              </a:defRPr>
            </a:pPr>
            <a:r>
              <a:t>Route Handlers</a:t>
            </a:r>
          </a:p>
          <a:p>
            <a:pPr algn="ctr">
              <a:defRPr sz="850">
                <a:solidFill>
                  <a:srgbClr val="94A3B8"/>
                </a:solidFill>
              </a:defRPr>
            </a:pPr>
            <a:r>
              <a:t>18+ Express endpoints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73568" y="1737360"/>
            <a:ext cx="1691640" cy="822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73568" y="1783080"/>
            <a:ext cx="1691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00D2FF"/>
                </a:solidFill>
              </a:defRPr>
            </a:pPr>
            <a:r>
              <a:t>Controllers</a:t>
            </a:r>
          </a:p>
          <a:p>
            <a:pPr algn="ctr">
              <a:defRPr sz="850">
                <a:solidFill>
                  <a:srgbClr val="94A3B8"/>
                </a:solidFill>
              </a:defRPr>
            </a:pPr>
            <a:r>
              <a:t>Business &amp; Aggregation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84080" y="1737360"/>
            <a:ext cx="1691640" cy="822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0" y="1783080"/>
            <a:ext cx="1691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00D2FF"/>
                </a:solidFill>
              </a:defRPr>
            </a:pPr>
            <a:r>
              <a:t>Database Tier</a:t>
            </a:r>
          </a:p>
          <a:p>
            <a:pPr algn="ctr">
              <a:defRPr sz="850">
                <a:solidFill>
                  <a:srgbClr val="94A3B8"/>
                </a:solidFill>
              </a:defRPr>
            </a:pPr>
            <a:r>
              <a:t>Mongoose / Mongo Atlas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2743200"/>
            <a:ext cx="10728655" cy="34747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2834640"/>
            <a:ext cx="1036015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59B"/>
                </a:solidFill>
              </a:defRPr>
            </a:pPr>
            <a:r>
              <a:t>CORE REST API ENDPOINTS</a:t>
            </a:r>
          </a:p>
          <a:p>
            <a:pPr>
              <a:defRPr sz="950">
                <a:solidFill>
                  <a:srgbClr val="FFFFFF"/>
                </a:solidFill>
                <a:latin typeface="Consolas"/>
              </a:defRPr>
            </a:pPr>
            <a:r>
              <a:t>POST           /api/auth/register, /login, /demo ➔ Stateless JWT authentication, bcrypt hash validation, instant demo session</a:t>
            </a:r>
          </a:p>
          <a:p>
            <a:pPr>
              <a:defRPr sz="950">
                <a:solidFill>
                  <a:srgbClr val="FFFFFF"/>
                </a:solidFill>
                <a:latin typeface="Consolas"/>
              </a:defRPr>
            </a:pPr>
            <a:r>
              <a:t>GET, POST      /api/trades                      ➔ Paginated trade history with multi-filter query, auto R-multiple computation on create</a:t>
            </a:r>
          </a:p>
          <a:p>
            <a:pPr>
              <a:defRPr sz="950">
                <a:solidFill>
                  <a:srgbClr val="FFFFFF"/>
                </a:solidFill>
                <a:latin typeface="Consolas"/>
              </a:defRPr>
            </a:pPr>
            <a:r>
              <a:t>GET, PUT, DEL  /api/trades/:id                  ➔ Retrieve, edit, or purge individual trades with automatic metric cache invalidation</a:t>
            </a:r>
          </a:p>
          <a:p>
            <a:pPr>
              <a:defRPr sz="950">
                <a:solidFill>
                  <a:srgbClr val="FFFFFF"/>
                </a:solidFill>
                <a:latin typeface="Consolas"/>
              </a:defRPr>
            </a:pPr>
            <a:r>
              <a:t>GET            /api/analytics/kpis              ➔ Sub-50ms MongoDB $facet aggregation returning win rate, net PnL, profit factor</a:t>
            </a:r>
          </a:p>
          <a:p>
            <a:pPr>
              <a:defRPr sz="950">
                <a:solidFill>
                  <a:srgbClr val="FFFFFF"/>
                </a:solidFill>
                <a:latin typeface="Consolas"/>
              </a:defRPr>
            </a:pPr>
            <a:r>
              <a:t>GET            /api/analytics/curve             ➔ Cumulative R &amp; USD equity trajectory data points with drawdown peaks</a:t>
            </a:r>
          </a:p>
          <a:p>
            <a:pPr>
              <a:defRPr sz="950">
                <a:solidFill>
                  <a:srgbClr val="FFFFFF"/>
                </a:solidFill>
                <a:latin typeface="Consolas"/>
              </a:defRPr>
            </a:pPr>
            <a:r>
              <a:t>GET            /api/analytics/breakdowns        ➔ Multi-dimensional performance grouped by setup grade, session, and weekday</a:t>
            </a:r>
          </a:p>
          <a:p>
            <a:pPr>
              <a:defRPr sz="950">
                <a:solidFill>
                  <a:srgbClr val="FFFFFF"/>
                </a:solidFill>
                <a:latin typeface="Consolas"/>
              </a:defRPr>
            </a:pPr>
            <a:r>
              <a:t>POST           /api/ai/audit                    ➔ Grounded deterministic psychology audit flagging revenge trades and early exits</a:t>
            </a:r>
          </a:p>
          <a:p>
            <a:pPr>
              <a:defRPr sz="950">
                <a:solidFill>
                  <a:srgbClr val="FFFFFF"/>
                </a:solidFill>
                <a:latin typeface="Consolas"/>
              </a:defRPr>
            </a:pPr>
            <a:r>
              <a:t>POST           /api/ai/chat                     ➔ Interactive AI mentor powered by Google Gemini 2.5 Flash / OpenAI GPT-4o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Segoe UI"/>
              </a:defRPr>
            </a:pPr>
            <a:r>
              <a:t>■  INTERFACE &amp; 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The Command Center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A bespoke dark-mode financial terminal designed for instantaneous situational awareness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4114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TradeJourn · Industrial Training Presentation  |  Codified Web Solutions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6858000" cy="43891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board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83080"/>
            <a:ext cx="6766560" cy="4297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0" y="173736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2FF"/>
                </a:solidFill>
              </a:defRPr>
            </a:pPr>
            <a:r>
              <a:t>ON SCREEN</a:t>
            </a:r>
          </a:p>
          <a:p>
            <a:br/>
            <a:pPr>
              <a:defRPr sz="1100" b="1">
                <a:solidFill>
                  <a:srgbClr val="00F59B"/>
                </a:solidFill>
              </a:defRPr>
            </a:pPr>
            <a:r>
              <a:t>1. Timeframe Navigation HUD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Switch between Daily, Weekly, Monthly, and Yearly performance horizons with 1 click.</a:t>
            </a:r>
          </a:p>
          <a:p>
            <a:br/>
            <a:pPr>
              <a:defRPr sz="1100" b="1">
                <a:solidFill>
                  <a:srgbClr val="00D2FF"/>
                </a:solidFill>
              </a:defRPr>
            </a:pPr>
            <a:r>
              <a:t>2. Real-Time KPI Cards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Instant metrics for Total Trades (17), Win Rate (70.6%), Net Profit (+$534), Total Pips (+534), and Avg R:R (1:1.9).</a:t>
            </a:r>
          </a:p>
          <a:p>
            <a:br/>
            <a:pPr>
              <a:defRPr sz="1100" b="1">
                <a:solidFill>
                  <a:srgbClr val="3B82F6"/>
                </a:solidFill>
              </a:defRPr>
            </a:pPr>
            <a:r>
              <a:t>3. Monthly Performance Chart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Audited calendar P&amp;L bar chart clearly displaying profitable vs drawdown months.</a:t>
            </a:r>
          </a:p>
          <a:p>
            <a:br/>
            <a:pPr>
              <a:defRPr sz="1100" b="1">
                <a:solidFill>
                  <a:srgbClr val="A855F7"/>
                </a:solidFill>
              </a:defRPr>
            </a:pPr>
            <a:r>
              <a:t>4. Dynamic Win Rate Donut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Circular gauge breaking down 12 Wins, 4 Losses, and 1 Break-Even execution.</a:t>
            </a:r>
          </a:p>
          <a:p>
            <a:br/>
            <a:pPr>
              <a:defRPr sz="1100" b="1">
                <a:solidFill>
                  <a:srgbClr val="F59E0B"/>
                </a:solidFill>
              </a:defRPr>
            </a:pPr>
            <a:r>
              <a:t>5. Execution Distributions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Asset allocations (EURUSD, XAUUSD, US30) and Long vs Short trade directions.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Segoe UI"/>
              </a:defRPr>
            </a:pPr>
            <a:r>
              <a:t>■  ADVANCED 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Interactive Equity Curves &amp; Deep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Continuous spline trajectories and multi-dimensional expectancy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4114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TradeJourn · Industrial Training Presentation  |  Codified Web Solutions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5212080" cy="32918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quity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83080"/>
            <a:ext cx="5120640" cy="32004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217920" y="1737360"/>
            <a:ext cx="5242255" cy="32918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nalyt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783080"/>
            <a:ext cx="5150815" cy="3200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5166360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59B"/>
                </a:solidFill>
              </a:defRPr>
            </a:pPr>
            <a:r>
              <a:t>Interactive SVG Equity Curve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Real-time cubic Bézier smooth spline curves with hover HUD tooltips</a:t>
            </a:r>
            <a:br/>
            <a:r>
              <a:t>• Non-passive mouse-wheel zoom &amp; pan without page scrolling</a:t>
            </a:r>
            <a:br/>
            <a:r>
              <a:t>• Volume histogram bars reflecting individual win/loss magnitudes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5166360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</a:defRPr>
            </a:pPr>
            <a:r>
              <a:t>Multi-Dimensional Expectancy Breakdown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Setup Quality Analysis: Proves A+ setups deliver 100% win rate</a:t>
            </a:r>
            <a:br/>
            <a:r>
              <a:t>• Session Liquidity: Discloses New York as highest profit generator</a:t>
            </a:r>
            <a:br/>
            <a:r>
              <a:t>• Weekday Execution Matrix: Pinpoints high-edge vs low-edge days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Segoe UI"/>
              </a:defRPr>
            </a:pPr>
            <a:r>
              <a:t>■  AI &amp;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Dual AI Coach &amp; Psychology Audit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Grounded deterministic auditing eliminates hallucination, paired with conversational LLM mentoring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4114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TradeJourn · Industrial Training Presentation  |  Codified Web Solutions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6858000" cy="43891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i_coa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83080"/>
            <a:ext cx="6766560" cy="4297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0" y="173736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855F7"/>
                </a:solidFill>
              </a:defRPr>
            </a:pPr>
            <a:r>
              <a:t>DUAL-ENGINE AI ARCHITECTURE</a:t>
            </a:r>
          </a:p>
          <a:p>
            <a:br/>
            <a:pPr>
              <a:defRPr sz="1050" b="1">
                <a:solidFill>
                  <a:srgbClr val="00F59B"/>
                </a:solidFill>
              </a:defRPr>
            </a:pPr>
            <a:r>
              <a:t>Tier 1: Grounded Deterministic Audit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100% mathematical audit of user trade history. Verifies positive expectancy while flagging specific execution leaks (e.g. 2 Early Entries, 1 Revenge Trade). Zero hallucination risk.</a:t>
            </a:r>
          </a:p>
          <a:p>
            <a:br/>
            <a:pPr>
              <a:defRPr sz="1050" b="1">
                <a:solidFill>
                  <a:srgbClr val="00D2FF"/>
                </a:solidFill>
              </a:defRPr>
            </a:pPr>
            <a:r>
              <a:t>Tier 2: Interactive Conversational Coach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Context-aware LLM (Gemini 2.5 Flash / GPT-4o) answering trader queries on risk sizing, pre-market checklists, and discipline remediation.</a:t>
            </a:r>
          </a:p>
          <a:p>
            <a:br/>
            <a:pPr>
              <a:defRPr sz="1050" b="1">
                <a:solidFill>
                  <a:srgbClr val="3B82F6"/>
                </a:solidFill>
              </a:defRPr>
            </a:pPr>
            <a:r>
              <a:t>Strict JSON Schema Parsing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Server enforces strict JSON schema output; strips markdown fences and normalizes topic strings for reliable UI binding.</a:t>
            </a:r>
          </a:p>
          <a:p>
            <a:br/>
            <a:pPr>
              <a:defRPr sz="1050" b="1">
                <a:solidFill>
                  <a:srgbClr val="F59E0B"/>
                </a:solidFill>
              </a:defRPr>
            </a:pPr>
            <a:r>
              <a:t>Live Psychology Scoring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Real-time discipline scoring (74/100) dynamically adjusts as trades are entered.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Segoe UI"/>
              </a:defRPr>
            </a:pPr>
            <a:r>
              <a:t>■ 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Core Code: High-Performance Aggregations &amp;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Actual production code powering TradeJourn's server-side engine and tenant isolation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4114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TradeJourn · Industrial Training Presentation  |  Codified Web Solutions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5212080" cy="448056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5029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59B"/>
                </a:solidFill>
              </a:defRPr>
            </a:pPr>
            <a:r>
              <a:t>MongoDB $facet Aggregation (analyticsController.js)</a:t>
            </a:r>
          </a:p>
          <a:p>
            <a:pPr>
              <a:defRPr sz="850">
                <a:solidFill>
                  <a:srgbClr val="FFFFFF"/>
                </a:solidFill>
                <a:latin typeface="Consolas"/>
              </a:defRPr>
            </a:pPr>
            <a:r>
              <a:t>// Sub-50ms multi-metric aggregation pipeline</a:t>
            </a:r>
            <a:br/>
            <a:r>
              <a:t>const kpis = await Trade.aggregate([</a:t>
            </a:r>
            <a:br/>
            <a:r>
              <a:t>  { $match: { userId: new ObjectId(req.user.id) } },</a:t>
            </a:r>
            <a:br/>
            <a:r>
              <a:t>  { $facet: {</a:t>
            </a:r>
            <a:br/>
            <a:r>
              <a:t>    totalTrades: [{ $count: "count" }],</a:t>
            </a:r>
            <a:br/>
            <a:r>
              <a:t>    wins: [</a:t>
            </a:r>
            <a:br/>
            <a:r>
              <a:t>      { $match: { result: "WIN" } },</a:t>
            </a:r>
            <a:br/>
            <a:r>
              <a:t>      { $count: "count" }</a:t>
            </a:r>
            <a:br/>
            <a:r>
              <a:t>    ],</a:t>
            </a:r>
            <a:br/>
            <a:r>
              <a:t>    pnl: [</a:t>
            </a:r>
            <a:br/>
            <a:r>
              <a:t>      { $group: {</a:t>
            </a:r>
            <a:br/>
            <a:r>
              <a:t>        _id: null,</a:t>
            </a:r>
            <a:br/>
            <a:r>
              <a:t>        netProfit: { $sum: "$profit" },</a:t>
            </a:r>
            <a:br/>
            <a:r>
              <a:t>        grossWins: { $sum: { $cond: [{ $gt: ["$profit", 0] }, "$profit", 0] } },</a:t>
            </a:r>
            <a:br/>
            <a:r>
              <a:t>        grossLoss: { $sum: { $cond: [{ $lt: ["$profit", 0] }, "$profit", 0] } }</a:t>
            </a:r>
            <a:br/>
            <a:r>
              <a:t>      }}</a:t>
            </a:r>
            <a:br/>
            <a:r>
              <a:t>    ],</a:t>
            </a:r>
            <a:br/>
            <a:r>
              <a:t>    expectancy: [</a:t>
            </a:r>
            <a:br/>
            <a:r>
              <a:t>      { $group: { _id: null, avgR: { $avg: "$rMultiple" } } }</a:t>
            </a:r>
            <a:br/>
            <a:r>
              <a:t>    ]</a:t>
            </a:r>
            <a:br/>
            <a:r>
              <a:t>  }}</a:t>
            </a:r>
            <a:br/>
            <a:r>
              <a:t>]);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5242255" cy="448056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828800"/>
            <a:ext cx="5029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</a:defRPr>
            </a:pPr>
            <a:r>
              <a:t>Multi-Tenant Auth Guard (middleware/auth.js)</a:t>
            </a:r>
          </a:p>
          <a:p>
            <a:pPr>
              <a:defRPr sz="850">
                <a:solidFill>
                  <a:srgbClr val="FFFFFF"/>
                </a:solidFill>
                <a:latin typeface="Consolas"/>
              </a:defRPr>
            </a:pPr>
            <a:r>
              <a:t>// Stateless JWT Verification &amp; Tenant Isolation</a:t>
            </a:r>
            <a:br/>
            <a:r>
              <a:t>const auth = async (req, res, next) =&gt; {</a:t>
            </a:r>
            <a:br/>
            <a:r>
              <a:t>  try {</a:t>
            </a:r>
            <a:br/>
            <a:r>
              <a:t>    const authHeader = req.header('Authorization');</a:t>
            </a:r>
            <a:br/>
            <a:r>
              <a:t>    const token = authHeader?.replace('Bearer ', '');</a:t>
            </a:r>
            <a:br/>
            <a:r>
              <a:t>    </a:t>
            </a:r>
            <a:br/>
            <a:r>
              <a:t>    if (!token) {</a:t>
            </a:r>
            <a:br/>
            <a:r>
              <a:t>      return res.status(401).json({ </a:t>
            </a:r>
            <a:br/>
            <a:r>
              <a:t>        error: 'Access denied. No token provided.' </a:t>
            </a:r>
            <a:br/>
            <a:r>
              <a:t>      });</a:t>
            </a:r>
            <a:br/>
            <a:r>
              <a:t>    }</a:t>
            </a:r>
            <a:br/>
            <a:br/>
            <a:r>
              <a:t>    const decoded = jwt.verify(token, process.env.JWT_SECRET);</a:t>
            </a:r>
            <a:br/>
            <a:r>
              <a:t>    req.user = await User.findById(decoded.id)</a:t>
            </a:r>
            <a:br/>
            <a:r>
              <a:t>                         .select('-password');</a:t>
            </a:r>
            <a:br/>
            <a:r>
              <a:t>                         </a:t>
            </a:r>
            <a:br/>
            <a:r>
              <a:t>    if (!req.user) {</a:t>
            </a:r>
            <a:br/>
            <a:r>
              <a:t>      return res.status(401).json({ error: 'User not found' });</a:t>
            </a:r>
            <a:br/>
            <a:r>
              <a:t>    }</a:t>
            </a:r>
            <a:br/>
            <a:br/>
            <a:r>
              <a:t>    next();</a:t>
            </a:r>
            <a:br/>
            <a:r>
              <a:t>  } catch (err) {</a:t>
            </a:r>
            <a:br/>
            <a:r>
              <a:t>    res.status(401).json({ error: 'Invalid token session' });</a:t>
            </a:r>
            <a:br/>
            <a:r>
              <a:t>  }</a:t>
            </a:r>
            <a:br/>
            <a:r>
              <a:t>};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Segoe UI"/>
              </a:defRPr>
            </a:pPr>
            <a:r>
              <a:t>■  ACCESS CONTROL &amp;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Security and Enterprise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Multi-layered defense safeguarding sensitive trading history, user credentials, and API integrity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4114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TradeJourn · Industrial Training Presentation  |  Codified Web Solutions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3456432" cy="19202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309067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2FF"/>
                </a:solidFill>
              </a:defRPr>
            </a:pPr>
            <a:r>
              <a:t>Stateless JWT Sessions</a:t>
            </a:r>
          </a:p>
          <a:p>
            <a:br/>
            <a:pPr>
              <a:defRPr sz="1000">
                <a:solidFill>
                  <a:srgbClr val="FFFFFF"/>
                </a:solidFill>
              </a:defRPr>
            </a:pPr>
            <a:r>
              <a:t>Cryptographically signed tokens containing user IDs with 7-day expiration, eliminating server-side session bloat.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783080"/>
            <a:ext cx="3456432" cy="19202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920240"/>
            <a:ext cx="309067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F59B"/>
                </a:solidFill>
              </a:defRPr>
            </a:pPr>
            <a:r>
              <a:t>Bcrypt Password Hashing</a:t>
            </a:r>
          </a:p>
          <a:p>
            <a:br/>
            <a:pPr>
              <a:defRPr sz="1000">
                <a:solidFill>
                  <a:srgbClr val="FFFFFF"/>
                </a:solidFill>
              </a:defRPr>
            </a:pPr>
            <a:r>
              <a:t>Passwords hashed using bcrypt with 10 salt rounds; plain-text passwords never touch logs or databases.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0144" y="1783080"/>
            <a:ext cx="3456432" cy="19202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93024" y="1920240"/>
            <a:ext cx="309067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</a:defRPr>
            </a:pPr>
            <a:r>
              <a:t>Multi-Tenant Isolation</a:t>
            </a:r>
          </a:p>
          <a:p>
            <a:br/>
            <a:pPr>
              <a:defRPr sz="1000">
                <a:solidFill>
                  <a:srgbClr val="FFFFFF"/>
                </a:solidFill>
              </a:defRPr>
            </a:pPr>
            <a:r>
              <a:t>Strict multi-tenant partitioning; every trade query and mutation explicitly enforces { userId: req.user.id }.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86200"/>
            <a:ext cx="3456432" cy="19202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023360"/>
            <a:ext cx="309067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855F7"/>
                </a:solidFill>
              </a:defRPr>
            </a:pPr>
            <a:r>
              <a:t>Express Rate Limiting</a:t>
            </a:r>
          </a:p>
          <a:p>
            <a:br/>
            <a:pPr>
              <a:defRPr sz="1000">
                <a:solidFill>
                  <a:srgbClr val="FFFFFF"/>
                </a:solidFill>
              </a:defRPr>
            </a:pPr>
            <a:r>
              <a:t>Guards sensitive endpoints (e.g. login, register, AI chat) with a 100 req / 15-minute window against brute-force attacks.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0832" y="3886200"/>
            <a:ext cx="3456432" cy="19202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53712" y="4023360"/>
            <a:ext cx="309067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Helmet HTTP Headers</a:t>
            </a:r>
          </a:p>
          <a:p>
            <a:br/>
            <a:pPr>
              <a:defRPr sz="1000">
                <a:solidFill>
                  <a:srgbClr val="FFFFFF"/>
                </a:solidFill>
              </a:defRPr>
            </a:pPr>
            <a:r>
              <a:t>Sets security headers including Content-Security-Policy, X-Frame-Options, and X-Content-Type-Options.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10144" y="3886200"/>
            <a:ext cx="3456432" cy="19202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3024" y="4023360"/>
            <a:ext cx="309067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4B72"/>
                </a:solidFill>
              </a:defRPr>
            </a:pPr>
            <a:r>
              <a:t>Hybrid Sandbox Safety</a:t>
            </a:r>
          </a:p>
          <a:p>
            <a:br/>
            <a:pPr>
              <a:defRPr sz="1000">
                <a:solidFill>
                  <a:srgbClr val="FFFFFF"/>
                </a:solidFill>
              </a:defRPr>
            </a:pPr>
            <a:r>
              <a:t>Zero-config in-memory fallback database keeps local development test sessions fully isolated and secure.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806440"/>
            <a:ext cx="10728655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833872"/>
            <a:ext cx="1036015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0F59B"/>
                </a:solidFill>
              </a:defRPr>
            </a:pPr>
            <a:r>
              <a:t>SECURITY GUARANTEE: Zero horizontal privilege escalation; trades and AI audit data remain strictly isolated per tenant.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Segoe UI"/>
              </a:defRPr>
            </a:pPr>
            <a:r>
              <a:t>■  VALIDATION &amp;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Testing and System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Rigorous empirical verification across all critical application workflows and stress 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4114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TradeJourn · Industrial Training Presentation  |  Codified Web Solutions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2377440" cy="9144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0F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2377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F59B"/>
                </a:solidFill>
              </a:defRPr>
            </a:pPr>
            <a:r>
              <a:t>6 / 6</a:t>
            </a:r>
          </a:p>
          <a:p>
            <a:pPr algn="ctr">
              <a:defRPr sz="950">
                <a:solidFill>
                  <a:srgbClr val="94A3B8"/>
                </a:solidFill>
              </a:defRPr>
            </a:pPr>
            <a:r>
              <a:t>Modules Verified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88920"/>
            <a:ext cx="2377440" cy="9144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880360"/>
            <a:ext cx="2377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D2FF"/>
                </a:solidFill>
              </a:defRPr>
            </a:pPr>
            <a:r>
              <a:t>&lt; 45ms</a:t>
            </a:r>
          </a:p>
          <a:p>
            <a:pPr algn="ctr">
              <a:defRPr sz="950">
                <a:solidFill>
                  <a:srgbClr val="94A3B8"/>
                </a:solidFill>
              </a:defRPr>
            </a:pPr>
            <a:r>
              <a:t>API Response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79"/>
            <a:ext cx="2377440" cy="9144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0F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931919"/>
            <a:ext cx="2377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F59B"/>
                </a:solidFill>
              </a:defRPr>
            </a:pPr>
            <a:r>
              <a:t>0 Leaks</a:t>
            </a:r>
          </a:p>
          <a:p>
            <a:pPr algn="ctr">
              <a:defRPr sz="950">
                <a:solidFill>
                  <a:srgbClr val="94A3B8"/>
                </a:solidFill>
              </a:defRPr>
            </a:pPr>
            <a:r>
              <a:t>Tenant Isolation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892040"/>
            <a:ext cx="2377440" cy="9144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983480"/>
            <a:ext cx="2377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A855F7"/>
                </a:solidFill>
              </a:defRPr>
            </a:pPr>
            <a:r>
              <a:t>100%</a:t>
            </a:r>
          </a:p>
          <a:p>
            <a:pPr algn="ctr">
              <a:defRPr sz="950">
                <a:solidFill>
                  <a:srgbClr val="94A3B8"/>
                </a:solidFill>
              </a:defRPr>
            </a:pPr>
            <a:r>
              <a:t>Calculation Pass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91840" y="1737360"/>
            <a:ext cx="8168335" cy="40690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1828800"/>
            <a:ext cx="777240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</a:defRPr>
            </a:pPr>
            <a:r>
              <a:t>EMPIRICAL VERIFICATION MATRIX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• Route Gating             | Attempt access without JWT token     ➔ HTTP 401 Redirected to Login       [VERIFIED]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• Live KPI Aggregations    | Load dashboard with 17 trades        ➔ All 5 KPI cards populate in 38ms   [VERIFIED]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• Interactive SVG Chart    | Compute continuous equity spline     ➔ Smooth Bézier path with zoom/pan   [VERIFIED]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• AI Psychology Audit      | Execute deterministic behavioral audit ➔ Flagged 2 Early Entries, 1 Revenge [VERIFIED]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• Hybrid DB Failover       | Disconnect external Atlas instance   ➔ In-memory database mounted instantly [VERIFIED]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• Multi-Tenant Isolation   | Cross-query User A trade with User B ➔ Strict 404 / 403 response returned [VERIFIED]</a:t>
            </a:r>
          </a:p>
          <a:p>
            <a:br/>
            <a:pPr>
              <a:defRPr sz="900">
                <a:solidFill>
                  <a:srgbClr val="00F59B"/>
                </a:solidFill>
              </a:defRPr>
            </a:pPr>
            <a:r>
              <a:t>VERIFIED = Validated empirically in running application. Zero regressions observed.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Segoe UI"/>
              </a:defRPr>
            </a:pPr>
            <a:r>
              <a:t>■  LESSONS LEARNED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Technical Challenges &amp; Internship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Key architectural hurdles solved and structured 14-week engineering milestones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4114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TradeJourn · Industrial Training Presentation  |  Codified Web Solutions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2560320" cy="22860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74519"/>
            <a:ext cx="2286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</a:defRPr>
            </a:pPr>
            <a:r>
              <a:t>High-Volume Aggregation Latency</a:t>
            </a:r>
          </a:p>
          <a:p>
            <a:br/>
            <a:pPr>
              <a:defRPr sz="950">
                <a:solidFill>
                  <a:srgbClr val="FF4B72"/>
                </a:solidFill>
              </a:defRPr>
            </a:pPr>
            <a:r>
              <a:t>Problem: Client-side computing lagged with 1,000+ trades.</a:t>
            </a:r>
          </a:p>
          <a:p>
            <a:br/>
            <a:pPr>
              <a:defRPr sz="950">
                <a:solidFill>
                  <a:srgbClr val="00F59B"/>
                </a:solidFill>
              </a:defRPr>
            </a:pPr>
            <a:r>
              <a:t>Solution: Migrated to server-side MongoDB $facet pipelines (reduced latency from 850ms to 42ms).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1783080"/>
            <a:ext cx="2560320" cy="22860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93592" y="1874519"/>
            <a:ext cx="2286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</a:defRPr>
            </a:pPr>
            <a:r>
              <a:t>Cross-Asset Pip Normalization</a:t>
            </a:r>
          </a:p>
          <a:p>
            <a:br/>
            <a:pPr>
              <a:defRPr sz="950">
                <a:solidFill>
                  <a:srgbClr val="FF4B72"/>
                </a:solidFill>
              </a:defRPr>
            </a:pPr>
            <a:r>
              <a:t>Problem: Crypto, Forex, and Indices measure ticks differently.</a:t>
            </a:r>
          </a:p>
          <a:p>
            <a:br/>
            <a:pPr>
              <a:defRPr sz="950">
                <a:solidFill>
                  <a:srgbClr val="00F59B"/>
                </a:solidFill>
              </a:defRPr>
            </a:pPr>
            <a:r>
              <a:t>Solution: Engineered normalized R-Multiple baseline math across all instruments.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1783080"/>
            <a:ext cx="2560320" cy="22860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18504" y="1874519"/>
            <a:ext cx="2286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</a:defRPr>
            </a:pPr>
            <a:r>
              <a:t>React Hook Order Bug</a:t>
            </a:r>
          </a:p>
          <a:p>
            <a:br/>
            <a:pPr>
              <a:defRPr sz="950">
                <a:solidFill>
                  <a:srgbClr val="FF4B72"/>
                </a:solidFill>
              </a:defRPr>
            </a:pPr>
            <a:r>
              <a:t>Problem: Conditional early returns caused hook count mismatch.</a:t>
            </a:r>
          </a:p>
          <a:p>
            <a:br/>
            <a:pPr>
              <a:defRPr sz="950">
                <a:solidFill>
                  <a:srgbClr val="00F59B"/>
                </a:solidFill>
              </a:defRPr>
            </a:pPr>
            <a:r>
              <a:t>Solution: Relocated data checks after all React hooks to preserve React Hook consistency.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06256" y="1783080"/>
            <a:ext cx="2560320" cy="22860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43416" y="1874519"/>
            <a:ext cx="2286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</a:defRPr>
            </a:pPr>
            <a:r>
              <a:t>AI Hallucination in Audits</a:t>
            </a:r>
          </a:p>
          <a:p>
            <a:br/>
            <a:pPr>
              <a:defRPr sz="950">
                <a:solidFill>
                  <a:srgbClr val="FF4B72"/>
                </a:solidFill>
              </a:defRPr>
            </a:pPr>
            <a:r>
              <a:t>Problem: LLMs occasionally hallucinated fake trade records.</a:t>
            </a:r>
          </a:p>
          <a:p>
            <a:br/>
            <a:pPr>
              <a:defRPr sz="950">
                <a:solidFill>
                  <a:srgbClr val="00F59B"/>
                </a:solidFill>
              </a:defRPr>
            </a:pPr>
            <a:r>
              <a:t>Solution: Designed two-tier grounded architecture: deterministic math first, LLM coach second.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297680"/>
            <a:ext cx="2057400" cy="1645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4389120"/>
            <a:ext cx="183794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59B"/>
                </a:solidFill>
              </a:defRPr>
            </a:pPr>
            <a:r>
              <a:t>Weeks 1–3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Requirements, MERN scaffold, MongoDB schema &amp; compound indexing.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07791" y="4297680"/>
            <a:ext cx="2057400" cy="1645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17519" y="4389120"/>
            <a:ext cx="183794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59B"/>
                </a:solidFill>
              </a:defRPr>
            </a:pPr>
            <a:r>
              <a:t>Weeks 4–6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Express REST endpoints, MT5 connector bridge, aggregation pipelines.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84064" y="4297680"/>
            <a:ext cx="2057400" cy="1645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93792" y="4389120"/>
            <a:ext cx="183794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59B"/>
                </a:solidFill>
              </a:defRPr>
            </a:pPr>
            <a:r>
              <a:t>Weeks 7–9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React 18 UI, dark design system, interactive SVG equity curve.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60336" y="4297680"/>
            <a:ext cx="2057400" cy="1645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70064" y="4389120"/>
            <a:ext cx="183794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59B"/>
                </a:solidFill>
              </a:defRPr>
            </a:pPr>
            <a:r>
              <a:t>Weeks 10–12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Dual AI psychology engine, prompt engineering, security auditing.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36608" y="4297680"/>
            <a:ext cx="2057400" cy="1645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46336" y="4389120"/>
            <a:ext cx="183794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59B"/>
                </a:solidFill>
              </a:defRPr>
            </a:pPr>
            <a:r>
              <a:t>Weeks 13–14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Performance stress testing, hybrid DB fallback, final documentation.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Segoe UI"/>
              </a:defRPr>
            </a:pPr>
            <a:r>
              <a:t>■  OUTCOMES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Results, Limits and Future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What TradeJourn accomplishes today and the technical vision for upcoming iterations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4114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TradeJourn · Industrial Training Presentation  |  Codified Web Solutions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2560320" cy="9144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10512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D2FF"/>
                </a:solidFill>
              </a:defRPr>
            </a:pPr>
            <a:r>
              <a:t>18+</a:t>
            </a:r>
          </a:p>
          <a:p>
            <a:pPr algn="ctr">
              <a:defRPr sz="950">
                <a:solidFill>
                  <a:srgbClr val="94A3B8"/>
                </a:solidFill>
              </a:defRPr>
            </a:pPr>
            <a:r>
              <a:t>React Components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1737360"/>
            <a:ext cx="2560320" cy="9144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0F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56432" y="1810512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F59B"/>
                </a:solidFill>
              </a:defRPr>
            </a:pPr>
            <a:r>
              <a:t>24+</a:t>
            </a:r>
          </a:p>
          <a:p>
            <a:pPr algn="ctr">
              <a:defRPr sz="950">
                <a:solidFill>
                  <a:srgbClr val="94A3B8"/>
                </a:solidFill>
              </a:defRPr>
            </a:pPr>
            <a:r>
              <a:t>REST Endpoints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1737360"/>
            <a:ext cx="2560320" cy="9144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81344" y="1810512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B82F6"/>
                </a:solidFill>
              </a:defRPr>
            </a:pPr>
            <a:r>
              <a:t>&lt; 45ms</a:t>
            </a:r>
          </a:p>
          <a:p>
            <a:pPr algn="ctr">
              <a:defRPr sz="950">
                <a:solidFill>
                  <a:srgbClr val="94A3B8"/>
                </a:solidFill>
              </a:defRPr>
            </a:pPr>
            <a:r>
              <a:t>Query Latency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06256" y="1737360"/>
            <a:ext cx="2560320" cy="9144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06256" y="1810512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A855F7"/>
                </a:solidFill>
              </a:defRPr>
            </a:pPr>
            <a:r>
              <a:t>100%</a:t>
            </a:r>
          </a:p>
          <a:p>
            <a:pPr algn="ctr">
              <a:defRPr sz="950">
                <a:solidFill>
                  <a:srgbClr val="94A3B8"/>
                </a:solidFill>
              </a:defRPr>
            </a:pPr>
            <a:r>
              <a:t>Data Isolation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880360"/>
            <a:ext cx="3456432" cy="31089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971800"/>
            <a:ext cx="3090672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F59B"/>
                </a:solidFill>
              </a:defRPr>
            </a:pPr>
            <a:r>
              <a:t>DELIVERED TODAY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Real-time KPI dashboards &amp; SVG equity trajectory curves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Server-side MongoDB $facet aggregation pipelines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MetaTrader 5 live integration connector bridge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Dual AI coach for psychology and discipline auditing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Multi-tenant JWT security with zero-config DB fallback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70832" y="2880360"/>
            <a:ext cx="3456432" cy="31089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3712" y="2971800"/>
            <a:ext cx="3090672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4B72"/>
                </a:solidFill>
              </a:defRPr>
            </a:pPr>
            <a:r>
              <a:t>CURRENT LIMITS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Manual CSV import required for non-MT5 brokers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AI conversational coach requires user API key in settings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Push notifications not yet enabled on mobile browsers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Cross-platform execution currently relies on desktop bridge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Historical tick replay not yet incorporated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10144" y="2880360"/>
            <a:ext cx="3456432" cy="31089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93024" y="2971800"/>
            <a:ext cx="3090672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D2FF"/>
                </a:solidFill>
              </a:defRPr>
            </a:pPr>
            <a:r>
              <a:t>FUTURE ROADMAP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WebSocket streaming for real-time tick-by-tick updates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Direct FIX Protocol integration for broker execution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Mobile Progressive Web App (PWA) with push discipline alerts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Multi-account prop firm risk management console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Automated copy-trading engine with stop-loss lock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  <a:latin typeface="Segoe UI"/>
              </a:defRPr>
            </a:pPr>
            <a:r>
              <a:t>■ 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Conclusion &amp; Key Skills Acquired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Transforming discretionary trading from subjective guesswork into disciplined quantitative mastery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4114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TradeJourn · Industrial Training Presentation  |  Codified Web Solutions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2560320" cy="12801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10512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2FF"/>
                </a:solidFill>
              </a:defRPr>
            </a:pPr>
            <a:r>
              <a:t>COLLECT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MT5 + REST APIs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Seamless trade ingestion without spreadsheet friction.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1737360"/>
            <a:ext cx="2560320" cy="12801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93592" y="1810512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F59B"/>
                </a:solidFill>
              </a:defRPr>
            </a:pPr>
            <a:r>
              <a:t>SECURE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JWT + Multi-Tenant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Stateless auth and strict tenant data isolation.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1737360"/>
            <a:ext cx="2560320" cy="12801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18504" y="1810512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</a:defRPr>
            </a:pPr>
            <a:r>
              <a:t>PROCESS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MongoDB $facet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Server-side aggregations for sub-50ms KPIs.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06256" y="1737360"/>
            <a:ext cx="2560320" cy="12801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43416" y="1810512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855F7"/>
                </a:solidFill>
              </a:defRPr>
            </a:pPr>
            <a:r>
              <a:t>PRESENT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React 18 + SVG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Interactive Bloomberg-style dark financial HUD.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246120"/>
            <a:ext cx="10728655" cy="14630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337560"/>
            <a:ext cx="103601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59B"/>
                </a:solidFill>
              </a:defRPr>
            </a:pPr>
            <a:r>
              <a:t>KEY INDUSTRIAL SKILLS ACQUIRED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Full-Stack MERN Architecture: Production-grade decoupling of React 18 frontend and Express.js REST API.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High-Performance Data Engineering: Server-side MongoDB $facet aggregation pipelines and compound B-tree index optimization.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Financial Mathematics: R-Multiple normalization, expectancy calculation, drawdown tracking, and liquidity session analysis.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AI Engineering: Grounded two-tier architecture combining deterministic audits with LLM conversational coaching.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Enterprise Security: Stateless JWT token management, bcrypt password hashing, and multi-tenant database partitioning.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892040"/>
            <a:ext cx="10728655" cy="128016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98348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THANK YOU &amp; QUESTIONS</a:t>
            </a:r>
          </a:p>
          <a:p>
            <a:pPr algn="ctr">
              <a:defRPr sz="1100">
                <a:solidFill>
                  <a:srgbClr val="00D2FF"/>
                </a:solidFill>
              </a:defRPr>
            </a:pPr>
            <a:r>
              <a:t>Local Dev Demo: http://localhost:5173  |  GitHub: suman9458/TradeJourn  |  Company: Codified Web Solutions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